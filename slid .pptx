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3"/>
  </p:notesMasterIdLst>
  <p:sldIdLst>
    <p:sldId id="256" r:id="rId2"/>
    <p:sldId id="266" r:id="rId3"/>
    <p:sldId id="26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77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399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28435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77255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613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23166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1331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89630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86887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8351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7566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63875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058398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2913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21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2743200" cy="2743200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7498080" y="3474720"/>
            <a:ext cx="2286000" cy="2286000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1097280" y="1645920"/>
            <a:ext cx="54864" cy="18288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1280160" y="155448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Grade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280160" y="219456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39696" y="42062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04688" y="42062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FA92DC-8FE2-FC42-E9E5-D049A5A78282}"/>
              </a:ext>
            </a:extLst>
          </p:cNvPr>
          <p:cNvSpPr/>
          <p:nvPr/>
        </p:nvSpPr>
        <p:spPr>
          <a:xfrm>
            <a:off x="1463040" y="3137095"/>
            <a:ext cx="1744394" cy="5416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i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Suhaib Ahmed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5D17170-AB39-7FDB-A396-1BDBB22BEBAE}"/>
              </a:ext>
            </a:extLst>
          </p:cNvPr>
          <p:cNvSpPr/>
          <p:nvPr/>
        </p:nvSpPr>
        <p:spPr>
          <a:xfrm>
            <a:off x="3945988" y="3108960"/>
            <a:ext cx="1744394" cy="5416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i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Ahmed Ismail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4EE200-80E2-439D-999E-D014B668D18F}"/>
              </a:ext>
            </a:extLst>
          </p:cNvPr>
          <p:cNvSpPr/>
          <p:nvPr/>
        </p:nvSpPr>
        <p:spPr>
          <a:xfrm>
            <a:off x="6095531" y="3624190"/>
            <a:ext cx="1744394" cy="5416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i="1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Nabidul</a:t>
            </a:r>
            <a:r>
              <a:rPr lang="en-MY" b="1" i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Huda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77EB59D-07F4-D535-1DDB-C47C6C08265F}"/>
              </a:ext>
            </a:extLst>
          </p:cNvPr>
          <p:cNvSpPr/>
          <p:nvPr/>
        </p:nvSpPr>
        <p:spPr>
          <a:xfrm>
            <a:off x="1463040" y="4026876"/>
            <a:ext cx="1744394" cy="5416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i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Kaung Thiha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E1920CB-EB31-BCB0-8265-DAC2B3D99E40}"/>
              </a:ext>
            </a:extLst>
          </p:cNvPr>
          <p:cNvSpPr/>
          <p:nvPr/>
        </p:nvSpPr>
        <p:spPr>
          <a:xfrm>
            <a:off x="3977640" y="4026875"/>
            <a:ext cx="1744394" cy="5416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i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Mohamed Irham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C5FA50-8D52-4617-AF91-5C7B1C835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B2E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DAD96D-FC2B-4A08-26DD-7DFBD1B6A254}"/>
              </a:ext>
            </a:extLst>
          </p:cNvPr>
          <p:cNvSpPr/>
          <p:nvPr/>
        </p:nvSpPr>
        <p:spPr>
          <a:xfrm>
            <a:off x="6820122" y="464010"/>
            <a:ext cx="1960404" cy="3595926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700" b="1" i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program structure &amp; data definitions</a:t>
            </a:r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E223798C-12AD-4B0C-A50C-D676347D6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0015" y="363474"/>
            <a:ext cx="6096762" cy="429310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60CDE9-7AE3-D76B-9250-AAA5F59A2F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290" b="1167"/>
          <a:stretch>
            <a:fillRect/>
          </a:stretch>
        </p:blipFill>
        <p:spPr>
          <a:xfrm>
            <a:off x="732188" y="706903"/>
            <a:ext cx="5372416" cy="3606249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041533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DF8D5ED-698B-37E0-7D33-11066667D6F6}"/>
              </a:ext>
            </a:extLst>
          </p:cNvPr>
          <p:cNvSpPr/>
          <p:nvPr/>
        </p:nvSpPr>
        <p:spPr>
          <a:xfrm>
            <a:off x="480060" y="4182665"/>
            <a:ext cx="8183880" cy="4800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b="1" i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Function declarations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4DF532-ABB9-71A6-7493-7E74E90824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901" r="1" b="8971"/>
          <a:stretch>
            <a:fillRect/>
          </a:stretch>
        </p:blipFill>
        <p:spPr>
          <a:xfrm>
            <a:off x="480060" y="480060"/>
            <a:ext cx="8183880" cy="3627596"/>
          </a:xfrm>
          <a:prstGeom prst="rect">
            <a:avLst/>
          </a:prstGeom>
          <a:ln w="19050">
            <a:solidFill>
              <a:schemeClr val="tx1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33076734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E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addStudent()  —  Adding a New Student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389120" cy="4023360"/>
          </a:xfrm>
          <a:prstGeom prst="rect">
            <a:avLst/>
          </a:prstGeom>
          <a:solidFill>
            <a:srgbClr val="1A1A2E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274320" y="7315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addStudent()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42062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(totalStudents &gt;= MAX_STUDENTS)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return;  // full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s.id = totalStudents + 26101000;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scanf(" %[^\n]", s.name);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 = 0; i &lt; MAX_SUBJECTS; i++)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scanf("%f", &amp;grade);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(grade &lt; 0)   grade = 0;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(grade &gt; 100) grade = 100;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s.grades[i] = grade;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s.average = computeAverage(...);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s.letterGrade = getLetterGrade(...);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892040" y="822960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4892040" y="8229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49240" y="7772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check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49240" y="10332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if 5 students already stored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92040" y="1581912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Text 11"/>
          <p:cNvSpPr/>
          <p:nvPr/>
        </p:nvSpPr>
        <p:spPr>
          <a:xfrm>
            <a:off x="4892040" y="15819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49240" y="153619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ID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49240" y="179222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= totalStudents + 26101000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92040" y="2340864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4892040" y="23408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49240" y="229514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input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49240" y="255117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scanf(" %[^\n]") reads names with spaces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92040" y="3099816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Text 19"/>
          <p:cNvSpPr/>
          <p:nvPr/>
        </p:nvSpPr>
        <p:spPr>
          <a:xfrm>
            <a:off x="4892040" y="30998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49240" y="305409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clamping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331012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every grade into 0–100 range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92040" y="3858768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Text 23"/>
          <p:cNvSpPr/>
          <p:nvPr/>
        </p:nvSpPr>
        <p:spPr>
          <a:xfrm>
            <a:off x="4892040" y="38587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49240" y="38130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calculation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49240" y="40690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computeAverage() &amp; getLetterGrade()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E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viewStudent()  &amp;  findStudent()  —  Lookup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4206240" cy="1920240"/>
          </a:xfrm>
          <a:prstGeom prst="rect">
            <a:avLst/>
          </a:prstGeom>
          <a:solidFill>
            <a:srgbClr val="1A1A2E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findStudent(id)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078992"/>
            <a:ext cx="4023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 = 0; i &lt; totalStudents; i++)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(students[i].id == id)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i;  // array index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-1;  // not found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2834640"/>
            <a:ext cx="4206240" cy="1783080"/>
          </a:xfrm>
          <a:prstGeom prst="rect">
            <a:avLst/>
          </a:prstGeom>
          <a:solidFill>
            <a:srgbClr val="1A1A2E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274320" y="28346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viewStudent(id)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163824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idx = findStudent(id);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(idx == -1) { // not found msg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print all 5 subject grades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print average &amp; letter grade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54880" y="777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lookup works: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54864" cy="4572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Text 11"/>
          <p:cNvSpPr/>
          <p:nvPr/>
        </p:nvSpPr>
        <p:spPr>
          <a:xfrm>
            <a:off x="4937760" y="117043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findStudent() scans the array linearly, comparing each student's id to the target.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011680"/>
            <a:ext cx="54864" cy="4572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Text 13"/>
          <p:cNvSpPr/>
          <p:nvPr/>
        </p:nvSpPr>
        <p:spPr>
          <a:xfrm>
            <a:off x="4937760" y="199339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array index (0–4) on a match, or -1 if no student has that ID.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834640"/>
            <a:ext cx="54864" cy="4572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4937760" y="281635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viewStudent() calls findStudent() first — if index is -1 it prints an error and stops.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3657600"/>
            <a:ext cx="54864" cy="4572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Text 17"/>
          <p:cNvSpPr/>
          <p:nvPr/>
        </p:nvSpPr>
        <p:spPr>
          <a:xfrm>
            <a:off x="4937760" y="363931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found, it prints each of the 5 subject grades, then the computed average and letter grade.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E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editGrades()  &amp;  deleteStudent()  —  Modify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editGrades(id)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1042416"/>
            <a:ext cx="4114800" cy="2011680"/>
          </a:xfrm>
          <a:prstGeom prst="rect">
            <a:avLst/>
          </a:prstGeom>
          <a:solidFill>
            <a:srgbClr val="1A1A2E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365760" y="1115568"/>
            <a:ext cx="39319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 = findStudent(id);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 = 0; i &lt; MAX_SUBJECTS; i++)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scanf("%f", &amp;grade);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clamp 0–100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students[idx].grades[i] = grade;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students[idx].average 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computeAverage(...);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students[idx].letterGrade 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5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getLetterGrade</a:t>
            </a: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(...);</a:t>
            </a:r>
            <a:b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b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b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b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b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54880" y="74980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deleteStudent(id)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078992"/>
            <a:ext cx="4114800" cy="2011680"/>
          </a:xfrm>
          <a:prstGeom prst="rect">
            <a:avLst/>
          </a:prstGeom>
          <a:solidFill>
            <a:srgbClr val="1A1A2E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/>
          <p:nvPr/>
        </p:nvSpPr>
        <p:spPr>
          <a:xfrm>
            <a:off x="4846320" y="1115568"/>
            <a:ext cx="39319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 = findStudent(id);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shift array left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 = idx; i &lt; totalStudents-1; i++)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students[i] = students[i+1];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r>
              <a:rPr lang="en-US" sz="95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totalStudents</a:t>
            </a: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--;</a:t>
            </a:r>
            <a:b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b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b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b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b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b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b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b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b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1000" dirty="0"/>
              <a:t>First, the program finds the student index using </a:t>
            </a:r>
            <a:r>
              <a:rPr lang="en-US" sz="1000" dirty="0" err="1"/>
              <a:t>findStudent</a:t>
            </a:r>
            <a:r>
              <a:rPr lang="en-US" sz="1000" dirty="0"/>
              <a:t>(id). </a:t>
            </a:r>
          </a:p>
          <a:p>
            <a:r>
              <a:rPr lang="en-US" sz="1000" dirty="0"/>
              <a:t>After deletion, all remaining students are shifted one position to the left. </a:t>
            </a:r>
          </a:p>
          <a:p>
            <a:r>
              <a:rPr lang="en-US" sz="1000" dirty="0"/>
              <a:t>This removes the empty gap in the array. </a:t>
            </a:r>
          </a:p>
          <a:p>
            <a:r>
              <a:rPr lang="en-US" sz="1000" dirty="0"/>
              <a:t>Finally, </a:t>
            </a:r>
            <a:r>
              <a:rPr lang="en-US" sz="1000" dirty="0" err="1"/>
              <a:t>totalStudents</a:t>
            </a:r>
            <a:r>
              <a:rPr lang="en-US" sz="1000" dirty="0"/>
              <a:t> is reduced by 1.</a:t>
            </a:r>
          </a:p>
          <a:p>
            <a:pPr marL="0" indent="0">
              <a:buNone/>
            </a:pPr>
            <a:endParaRPr lang="en-US" sz="950" dirty="0">
              <a:solidFill>
                <a:srgbClr val="A8D8E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82880" y="4393692"/>
            <a:ext cx="8595360" cy="38404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274320" y="3993114"/>
            <a:ext cx="8412480" cy="11503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functions call findStudent() first — if the ID is not found (-1 returned), an error message is shown and the function exits immediately.</a:t>
            </a:r>
            <a:endParaRPr lang="en-US" sz="1100" dirty="0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237687AA-9C72-CEE8-DEFB-A4E028E53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06" y="3113730"/>
            <a:ext cx="5444197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First, the program searches for the student using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findStudent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(id)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asks the user to re-enter all subject grades.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new grades are stored in the array.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Then the program automatically recalculates: </a:t>
            </a:r>
            <a:r>
              <a:rPr lang="en-US" altLang="en-US" sz="1000" dirty="0">
                <a:latin typeface="Arial" panose="020B0604020202020204" pitchFamily="34" charset="0"/>
              </a:rPr>
              <a:t>Average 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E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computeAverage()  &amp;  getLetterGrade()  —  Helpers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4114800" cy="2011680"/>
          </a:xfrm>
          <a:prstGeom prst="rect">
            <a:avLst/>
          </a:prstGeom>
          <a:solidFill>
            <a:srgbClr val="1A1A2E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computeAverage(grades[], count)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39319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sum = 0.0f;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 = 0; i &lt; count; i++)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 += grades[i];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(count &gt; 0)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? (sum / count) : 0.0f;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4320" y="28346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the grades array and count. Sums all values in a for loop and divides. Returns 0.0 if count is zero — prevents division by zero.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749808"/>
            <a:ext cx="4114800" cy="2011680"/>
          </a:xfrm>
          <a:prstGeom prst="rect">
            <a:avLst/>
          </a:prstGeom>
          <a:solidFill>
            <a:srgbClr val="1A1A2E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4754880" y="7498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getLetterGrade(average)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1097280"/>
            <a:ext cx="39319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(average &gt;= 90) return 'A';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(average &gt;= 80) return 'B';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(average &gt;= 70) return 'C';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(average &gt;= 60) return 'D';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return 'F';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2834640"/>
            <a:ext cx="713232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Text 11"/>
          <p:cNvSpPr/>
          <p:nvPr/>
        </p:nvSpPr>
        <p:spPr>
          <a:xfrm>
            <a:off x="4754880" y="2834640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54880" y="3108960"/>
            <a:ext cx="713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90–100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559552" y="2834640"/>
            <a:ext cx="713232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5559552" y="2834640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59552" y="3108960"/>
            <a:ext cx="713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80–89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364224" y="2834640"/>
            <a:ext cx="713232" cy="50292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Text 17"/>
          <p:cNvSpPr/>
          <p:nvPr/>
        </p:nvSpPr>
        <p:spPr>
          <a:xfrm>
            <a:off x="6364224" y="2834640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64224" y="3108960"/>
            <a:ext cx="713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70–79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168896" y="2834640"/>
            <a:ext cx="713232" cy="5029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7168896" y="2834640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68896" y="3108960"/>
            <a:ext cx="713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60–69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973568" y="2834640"/>
            <a:ext cx="713232" cy="5029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Text 23"/>
          <p:cNvSpPr/>
          <p:nvPr/>
        </p:nvSpPr>
        <p:spPr>
          <a:xfrm>
            <a:off x="7973568" y="2834640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973568" y="3108960"/>
            <a:ext cx="713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60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0" y="34290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else if chain — once a condition matches, no further checks run.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" y="38404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helper functions are called automatically every time grades are added or edited — the student record is always up to date.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E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displayTopStudent()  &amp;  viewAllStudents()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4206240" cy="2331720"/>
          </a:xfrm>
          <a:prstGeom prst="rect">
            <a:avLst/>
          </a:prstGeom>
          <a:solidFill>
            <a:srgbClr val="1A1A2E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displayTopStudent()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069848"/>
            <a:ext cx="402336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topAvg = -1; topIdx = 0;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 = 0; i &lt; totalStudents; i++)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(students[i].average &gt; topAvg)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topAvg = students[i].average;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topIdx = i;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viewStudent(students[topIdx].id);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74320" y="3172968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Initialises topAvg = -1 so any real average (0–100) will beat it on the first comparison. Single-pass scan updates topIdx whenever a higher average is found. Calls viewStudent() to display the winner's full detail.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749808"/>
            <a:ext cx="4114800" cy="2331720"/>
          </a:xfrm>
          <a:prstGeom prst="rect">
            <a:avLst/>
          </a:prstGeom>
          <a:solidFill>
            <a:srgbClr val="1A1A2E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4754880" y="74980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viewAllStudents()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1069848"/>
            <a:ext cx="39319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printf("%-6s %-20s %-8s %-6s\n",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"ID","Name","Avg","Grade");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(i=0; i&lt;totalStudents; i++)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printStudentRow(students[i]);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printf("Total: %d\n", totalStudents);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0" y="3172968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printStudentRow():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helper that prints one row using %-6d %-20s %-8.2f %-6c format specifiers for neat column alignment.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913632"/>
            <a:ext cx="8595360" cy="34747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365760" y="391363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totalStudents == 0, both functions print a 'no records' message and return early without crashing.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E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Handling  &amp;  Program Flow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Input Techniques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365760" y="11704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scanf("%d", &amp;choice)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142646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integer menu choice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801368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365760" y="18288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950" b="1" dirty="0">
              <a:solidFill>
                <a:srgbClr val="1E276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950" b="1" dirty="0" err="1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scanf</a:t>
            </a:r>
            <a:r>
              <a:rPr lang="en-US" sz="9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 %[^\n]", name)</a:t>
            </a:r>
            <a:br>
              <a:rPr lang="en-US" sz="9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br>
              <a:rPr lang="en-US" sz="9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1000" dirty="0"/>
              <a:t>is used to read a full sentence or name including spaces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459736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3" name="Text 11"/>
          <p:cNvSpPr/>
          <p:nvPr/>
        </p:nvSpPr>
        <p:spPr>
          <a:xfrm>
            <a:off x="365760" y="24871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scanf("%f", &amp;grade)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27432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float grade value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118104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365760" y="314553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(grade &lt; 0) grade = 0;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340156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Clamps below minimum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776472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9" name="Text 17"/>
          <p:cNvSpPr/>
          <p:nvPr/>
        </p:nvSpPr>
        <p:spPr>
          <a:xfrm>
            <a:off x="365760" y="380390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(grade &gt; 100) grade = 100;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4059936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Clamps above maximum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54880" y="7498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Flow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54880" y="1170432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Text 21"/>
          <p:cNvSpPr/>
          <p:nvPr/>
        </p:nvSpPr>
        <p:spPr>
          <a:xfrm>
            <a:off x="4754880" y="11704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66360" y="11704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starts → prints welcome banner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19472" y="1499616"/>
            <a:ext cx="0" cy="246888"/>
          </a:xfrm>
          <a:prstGeom prst="line">
            <a:avLst/>
          </a:prstGeom>
          <a:noFill/>
          <a:ln w="1905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Shape 24"/>
          <p:cNvSpPr/>
          <p:nvPr/>
        </p:nvSpPr>
        <p:spPr>
          <a:xfrm>
            <a:off x="4754880" y="1746504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" name="Text 25"/>
          <p:cNvSpPr/>
          <p:nvPr/>
        </p:nvSpPr>
        <p:spPr>
          <a:xfrm>
            <a:off x="4754880" y="17465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66360" y="174650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do-while loop begins → printMenu() called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919472" y="2075688"/>
            <a:ext cx="0" cy="246888"/>
          </a:xfrm>
          <a:prstGeom prst="line">
            <a:avLst/>
          </a:prstGeom>
          <a:noFill/>
          <a:ln w="1905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" name="Shape 28"/>
          <p:cNvSpPr/>
          <p:nvPr/>
        </p:nvSpPr>
        <p:spPr>
          <a:xfrm>
            <a:off x="4754880" y="2322576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" name="Text 29"/>
          <p:cNvSpPr/>
          <p:nvPr/>
        </p:nvSpPr>
        <p:spPr>
          <a:xfrm>
            <a:off x="4754880" y="23225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66360" y="232257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choice 1–7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919472" y="2651760"/>
            <a:ext cx="0" cy="246888"/>
          </a:xfrm>
          <a:prstGeom prst="line">
            <a:avLst/>
          </a:prstGeom>
          <a:noFill/>
          <a:ln w="1905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" name="Shape 32"/>
          <p:cNvSpPr/>
          <p:nvPr/>
        </p:nvSpPr>
        <p:spPr>
          <a:xfrm>
            <a:off x="4754880" y="2898648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5" name="Text 33"/>
          <p:cNvSpPr/>
          <p:nvPr/>
        </p:nvSpPr>
        <p:spPr>
          <a:xfrm>
            <a:off x="4754880" y="28986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66360" y="28986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routes to the correct function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919472" y="3227832"/>
            <a:ext cx="0" cy="246888"/>
          </a:xfrm>
          <a:prstGeom prst="line">
            <a:avLst/>
          </a:prstGeom>
          <a:noFill/>
          <a:ln w="1905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8" name="Shape 36"/>
          <p:cNvSpPr/>
          <p:nvPr/>
        </p:nvSpPr>
        <p:spPr>
          <a:xfrm>
            <a:off x="4754880" y="3474720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9" name="Text 37"/>
          <p:cNvSpPr/>
          <p:nvPr/>
        </p:nvSpPr>
        <p:spPr>
          <a:xfrm>
            <a:off x="4754880" y="34747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166360" y="34747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executes → result printed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919472" y="3803904"/>
            <a:ext cx="0" cy="246888"/>
          </a:xfrm>
          <a:prstGeom prst="line">
            <a:avLst/>
          </a:prstGeom>
          <a:noFill/>
          <a:ln w="1905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2" name="Shape 40"/>
          <p:cNvSpPr/>
          <p:nvPr/>
        </p:nvSpPr>
        <p:spPr>
          <a:xfrm>
            <a:off x="4754880" y="4050792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3" name="Text 41"/>
          <p:cNvSpPr/>
          <p:nvPr/>
        </p:nvSpPr>
        <p:spPr>
          <a:xfrm>
            <a:off x="4754880" y="40507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166360" y="40507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repeats until choice == 7 (Exit)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E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  —  What the Program Displays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Menu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749808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 Average &amp; Grade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" y="4416552"/>
            <a:ext cx="8595360" cy="38404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365760" y="441655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auto-increment from 26101000. Grades are clamped 0–100. Average and letter grade are computed instantly on entry.</a:t>
            </a:r>
            <a:endParaRPr lang="en-US" sz="11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FCB4B1F-E7E1-1D91-511E-294F4FE64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78992"/>
            <a:ext cx="3810330" cy="304826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A115E9E-6099-4BF6-058B-53AB779D31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1132448"/>
            <a:ext cx="4313294" cy="29948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7315200" y="-457200"/>
            <a:ext cx="2286000" cy="2286000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137160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292608" cy="2926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100584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typedef struct to group all student data into one clean type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572768"/>
            <a:ext cx="292608" cy="2926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548640" y="15727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157276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array + totalStudents counter acts as the in-memory database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139696"/>
            <a:ext cx="292608" cy="2926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Text 11"/>
          <p:cNvSpPr/>
          <p:nvPr/>
        </p:nvSpPr>
        <p:spPr>
          <a:xfrm>
            <a:off x="548640" y="21396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213969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findStudent() enables fast ID-based lookup for view, edit, and delete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706624"/>
            <a:ext cx="292608" cy="2926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548640" y="27066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" y="270662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computeAverage() and getLetterGrade() keep calculations consistent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273552"/>
            <a:ext cx="292608" cy="2926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Text 17"/>
          <p:cNvSpPr/>
          <p:nvPr/>
        </p:nvSpPr>
        <p:spPr>
          <a:xfrm>
            <a:off x="548640" y="32735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" y="327355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clamps all grades to the valid 0–100 range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840480"/>
            <a:ext cx="292608" cy="2926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548640" y="3840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0120" y="384048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deleteStudent() keeps the array gap-free by shifting elements left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82</TotalTime>
  <Words>1208</Words>
  <Application>Microsoft Office PowerPoint</Application>
  <PresentationFormat>On-screen Show (16:9)</PresentationFormat>
  <Paragraphs>185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Arial Unicode MS</vt:lpstr>
      <vt:lpstr>Calibri</vt:lpstr>
      <vt:lpstr>Calibri Light</vt:lpstr>
      <vt:lpstr>Consolas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Grade Management System</dc:title>
  <dc:subject>PptxGenJS Presentation</dc:subject>
  <dc:creator>PptxGenJS</dc:creator>
  <cp:lastModifiedBy>Anshaf Hassan</cp:lastModifiedBy>
  <cp:revision>5</cp:revision>
  <dcterms:created xsi:type="dcterms:W3CDTF">2026-05-12T10:36:52Z</dcterms:created>
  <dcterms:modified xsi:type="dcterms:W3CDTF">2026-05-12T17:35:14Z</dcterms:modified>
</cp:coreProperties>
</file>